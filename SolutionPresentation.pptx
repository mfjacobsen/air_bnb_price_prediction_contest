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sldIdLst>
    <p:sldId id="277" r:id="rId2"/>
    <p:sldId id="291" r:id="rId3"/>
    <p:sldId id="293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</p:sldIdLst>
  <p:sldSz cx="9144000" cy="5143500" type="screen16x9"/>
  <p:notesSz cx="6858000" cy="9144000"/>
  <p:defaultTextStyle>
    <a:defPPr marL="0" marR="0" indent="0" algn="l" defTabSz="3429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1pPr>
    <a:lvl2pPr marL="0" marR="0" indent="1714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2pPr>
    <a:lvl3pPr marL="0" marR="0" indent="3429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3pPr>
    <a:lvl4pPr marL="0" marR="0" indent="5143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4pPr>
    <a:lvl5pPr marL="0" marR="0" indent="6858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5pPr>
    <a:lvl6pPr marL="0" marR="0" indent="8572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6pPr>
    <a:lvl7pPr marL="0" marR="0" indent="10287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7pPr>
    <a:lvl8pPr marL="0" marR="0" indent="12001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8pPr>
    <a:lvl9pPr marL="0" marR="0" indent="13716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72"/>
    <p:restoredTop sz="94586"/>
  </p:normalViewPr>
  <p:slideViewPr>
    <p:cSldViewPr snapToGrid="0">
      <p:cViewPr varScale="1">
        <p:scale>
          <a:sx n="160" d="100"/>
          <a:sy n="160" d="100"/>
        </p:scale>
        <p:origin x="192" y="5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11" name="Shape 21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71450" latinLnBrk="0">
      <a:lnSpc>
        <a:spcPct val="117999"/>
      </a:lnSpc>
      <a:defRPr sz="825" b="0" i="0">
        <a:latin typeface="Calibri" panose="020F0502020204030204" pitchFamily="34" charset="0"/>
        <a:ea typeface="Helvetica Neue"/>
        <a:cs typeface="Helvetica Neue"/>
        <a:sym typeface="Helvetica Neue"/>
      </a:defRPr>
    </a:lvl1pPr>
    <a:lvl2pPr indent="8572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2pPr>
    <a:lvl3pPr indent="17145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3pPr>
    <a:lvl4pPr indent="25717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4pPr>
    <a:lvl5pPr indent="34290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5pPr>
    <a:lvl6pPr indent="42862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6pPr>
    <a:lvl7pPr indent="51435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7pPr>
    <a:lvl8pPr indent="60007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8pPr>
    <a:lvl9pPr indent="68580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769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 features were ready to use .</a:t>
            </a:r>
          </a:p>
          <a:p>
            <a:endParaRPr lang="en-US" dirty="0"/>
          </a:p>
          <a:p>
            <a:r>
              <a:rPr lang="en-US" dirty="0"/>
              <a:t>Zip Code required some cleaning</a:t>
            </a:r>
          </a:p>
          <a:p>
            <a:endParaRPr lang="en-US" dirty="0"/>
          </a:p>
          <a:p>
            <a:r>
              <a:rPr lang="en-US" dirty="0" err="1"/>
              <a:t>Amenitites</a:t>
            </a:r>
            <a:r>
              <a:rPr lang="en-US" dirty="0"/>
              <a:t> required manually one hot encoding</a:t>
            </a:r>
          </a:p>
        </p:txBody>
      </p:sp>
    </p:spTree>
    <p:extLst>
      <p:ext uri="{BB962C8B-B14F-4D97-AF65-F5344CB8AC3E}">
        <p14:creationId xmlns:p14="http://schemas.microsoft.com/office/powerpoint/2010/main" val="4139313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Bedrooms, beds, bathrooms had a few missing values which I imputed with the median from accommodates. This was a holdover from a linear model that I initially used, after switching to </a:t>
            </a:r>
            <a:r>
              <a:rPr lang="en-US" dirty="0" err="1"/>
              <a:t>xgboost</a:t>
            </a:r>
            <a:r>
              <a:rPr lang="en-US" dirty="0"/>
              <a:t>, I decided to keep it when removing it decreased my cross validation score.</a:t>
            </a:r>
          </a:p>
          <a:p>
            <a:endParaRPr lang="en-US" dirty="0"/>
          </a:p>
          <a:p>
            <a:r>
              <a:rPr lang="en-US" dirty="0"/>
              <a:t>Extra people and host response rate were strings and had to be cleaned</a:t>
            </a:r>
          </a:p>
          <a:p>
            <a:endParaRPr lang="en-US" dirty="0"/>
          </a:p>
          <a:p>
            <a:r>
              <a:rPr lang="en-US" dirty="0"/>
              <a:t>Host since –had to extract the year from the date</a:t>
            </a:r>
          </a:p>
        </p:txBody>
      </p:sp>
    </p:spTree>
    <p:extLst>
      <p:ext uri="{BB962C8B-B14F-4D97-AF65-F5344CB8AC3E}">
        <p14:creationId xmlns:p14="http://schemas.microsoft.com/office/powerpoint/2010/main" val="234507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563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L2 regularization reduces variance</a:t>
            </a:r>
          </a:p>
        </p:txBody>
      </p:sp>
    </p:spTree>
    <p:extLst>
      <p:ext uri="{BB962C8B-B14F-4D97-AF65-F5344CB8AC3E}">
        <p14:creationId xmlns:p14="http://schemas.microsoft.com/office/powerpoint/2010/main" val="3957680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UCSD-BrandRefresh-PPTBackgrounds-v4_SimpleGold-NotchTop.png" descr="UCSD-BrandRefresh-PPTBackgrounds-v4_SimpleGold-NotchTop.png"/>
          <p:cNvPicPr>
            <a:picLocks noChangeAspect="1"/>
          </p:cNvPicPr>
          <p:nvPr/>
        </p:nvPicPr>
        <p:blipFill>
          <a:blip r:embed="rId2"/>
          <a:srcRect t="26" b="78580"/>
          <a:stretch>
            <a:fillRect/>
          </a:stretch>
        </p:blipFill>
        <p:spPr>
          <a:xfrm>
            <a:off x="1850" y="0"/>
            <a:ext cx="9140300" cy="1100946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57201" y="4429125"/>
            <a:ext cx="8229599" cy="256032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263128">
              <a:lnSpc>
                <a:spcPct val="100000"/>
              </a:lnSpc>
              <a:spcBef>
                <a:spcPts val="0"/>
              </a:spcBef>
              <a:buSzTx/>
              <a:buNone/>
              <a:defRPr sz="1148"/>
            </a:lvl1pPr>
          </a:lstStyle>
          <a:p>
            <a:r>
              <a:rPr dirty="0"/>
              <a:t>Author and Date</a:t>
            </a:r>
          </a:p>
        </p:txBody>
      </p:sp>
      <p:sp>
        <p:nvSpPr>
          <p:cNvPr id="16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7200" y="1100946"/>
            <a:ext cx="8239127" cy="164225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0" i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2743200"/>
            <a:ext cx="8239125" cy="714375"/>
          </a:xfrm>
          <a:prstGeom prst="rect">
            <a:avLst/>
          </a:prstGeom>
        </p:spPr>
        <p:txBody>
          <a:bodyPr lIns="45720" tIns="45720" rIns="0" bIns="0">
            <a:normAutofit/>
          </a:bodyPr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800">
                <a:latin typeface="Source Sans 3 Bold"/>
                <a:ea typeface="Source Sans 3 Bold"/>
                <a:cs typeface="Source Sans 3 Bold"/>
                <a:sym typeface="Source Sans 3 Bold"/>
              </a:defRPr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800">
                <a:latin typeface="Source Sans 3 Bold"/>
                <a:ea typeface="Source Sans 3 Bold"/>
                <a:cs typeface="Source Sans 3 Bold"/>
                <a:sym typeface="Source Sans 3 Bold"/>
              </a:defRPr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800">
                <a:latin typeface="Source Sans 3 Bold"/>
                <a:ea typeface="Source Sans 3 Bold"/>
                <a:cs typeface="Source Sans 3 Bold"/>
                <a:sym typeface="Source Sans 3 Bold"/>
              </a:defRPr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800">
                <a:latin typeface="Source Sans 3 Bold"/>
                <a:ea typeface="Source Sans 3 Bold"/>
                <a:cs typeface="Source Sans 3 Bold"/>
                <a:sym typeface="Source Sans 3 Bold"/>
              </a:defRPr>
            </a:lvl5pPr>
          </a:lstStyle>
          <a:p>
            <a:r>
              <a:rPr dirty="0"/>
              <a:t>Presentation Subtitle</a:t>
            </a:r>
          </a:p>
        </p:txBody>
      </p:sp>
      <p:sp>
        <p:nvSpPr>
          <p:cNvPr id="3" name="Image">
            <a:extLst>
              <a:ext uri="{FF2B5EF4-FFF2-40B4-BE49-F238E27FC236}">
                <a16:creationId xmlns:a16="http://schemas.microsoft.com/office/drawing/2014/main" id="{DE023AA1-74D0-3BFE-F10F-D695BD3FAC4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819843" y="292608"/>
            <a:ext cx="2002536" cy="37490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</a:t>
            </a:r>
            <a:endParaRPr dirty="0"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960119"/>
            <a:ext cx="8229600" cy="393192"/>
          </a:xfrm>
          <a:prstGeom prst="rect">
            <a:avLst/>
          </a:prstGeom>
        </p:spPr>
        <p:txBody>
          <a:bodyPr lIns="0" tIns="0" rIns="0" bIns="0"/>
          <a:lstStyle>
            <a:lvl1pPr marL="0" indent="0" defTabSz="290988">
              <a:lnSpc>
                <a:spcPct val="100000"/>
              </a:lnSpc>
              <a:spcBef>
                <a:spcPts val="0"/>
              </a:spcBef>
              <a:buSzTx/>
              <a:buNone/>
              <a:defRPr sz="1763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EEB530-F476-B203-86BA-811E1A17921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4D652-7895-6EAA-49F3-7C088AF030A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76E523-DB87-3C2F-DBF6-0368128DA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8912"/>
            <a:ext cx="8229599" cy="52120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981E46-6335-C02A-13A6-11FD5F9D32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1581150"/>
            <a:ext cx="8229599" cy="284797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/>
            </a:lvl1pPr>
            <a:lvl2pPr marL="274320" indent="0">
              <a:buNone/>
              <a:defRPr/>
            </a:lvl2pPr>
            <a:lvl3pPr marL="502920" indent="0">
              <a:buNone/>
              <a:defRPr/>
            </a:lvl3pPr>
            <a:lvl4pPr marL="731520" indent="0">
              <a:buNone/>
              <a:defRPr/>
            </a:lvl4pPr>
            <a:lvl5pPr marL="96012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654416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960119"/>
            <a:ext cx="8229600" cy="393192"/>
          </a:xfrm>
          <a:prstGeom prst="rect">
            <a:avLst/>
          </a:prstGeom>
        </p:spPr>
        <p:txBody>
          <a:bodyPr lIns="0" tIns="0" rIns="0" bIns="0"/>
          <a:lstStyle>
            <a:lvl1pPr marL="0" indent="0" defTabSz="290988">
              <a:lnSpc>
                <a:spcPct val="100000"/>
              </a:lnSpc>
              <a:spcBef>
                <a:spcPts val="0"/>
              </a:spcBef>
              <a:buSzTx/>
              <a:buNone/>
              <a:defRPr sz="1763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EEB530-F476-B203-86BA-811E1A17921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4D652-7895-6EAA-49F3-7C088AF030A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76E523-DB87-3C2F-DBF6-0368128DA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8912"/>
            <a:ext cx="8229599" cy="52120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981E46-6335-C02A-13A6-11FD5F9D32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199" y="1581150"/>
            <a:ext cx="8229600" cy="2847975"/>
          </a:xfrm>
        </p:spPr>
        <p:txBody>
          <a:bodyPr numCol="2"/>
          <a:lstStyle>
            <a:lvl1pPr>
              <a:lnSpc>
                <a:spcPct val="100000"/>
              </a:lnSpc>
              <a:spcBef>
                <a:spcPts val="1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893083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2BE947-5C75-BF49-C212-41CB339CF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4437" y="438912"/>
            <a:ext cx="3662363" cy="52120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FC2B18-5537-C52E-B041-7ECFFBB5D2A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24436" y="1581151"/>
            <a:ext cx="3662363" cy="26022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Subtitle">
            <a:extLst>
              <a:ext uri="{FF2B5EF4-FFF2-40B4-BE49-F238E27FC236}">
                <a16:creationId xmlns:a16="http://schemas.microsoft.com/office/drawing/2014/main" id="{5EC95FEA-E0A0-62E5-9BA3-928336AB82D3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024437" y="960119"/>
            <a:ext cx="3662362" cy="393192"/>
          </a:xfrm>
          <a:prstGeom prst="rect">
            <a:avLst/>
          </a:prstGeom>
        </p:spPr>
        <p:txBody>
          <a:bodyPr lIns="0" tIns="0" rIns="0" bIns="0"/>
          <a:lstStyle>
            <a:lvl1pPr marL="0" indent="0" defTabSz="290988">
              <a:lnSpc>
                <a:spcPct val="100000"/>
              </a:lnSpc>
              <a:spcBef>
                <a:spcPts val="0"/>
              </a:spcBef>
              <a:buSzTx/>
              <a:buNone/>
              <a:defRPr sz="1763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E04F4EC-5F55-9DDE-9922-279259ACE77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97729B-2BD0-764F-2CB3-F3B6AC78FCE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1B84D5BB-C129-6400-B434-3EA3A1ED552F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57200" y="438148"/>
            <a:ext cx="4114991" cy="4114800"/>
          </a:xfrm>
          <a:prstGeom prst="roundRect">
            <a:avLst>
              <a:gd name="adj" fmla="val 2096"/>
            </a:avLst>
          </a:prstGeom>
          <a:solidFill>
            <a:srgbClr val="F5F0E5"/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1767141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960119"/>
            <a:ext cx="8229600" cy="393192"/>
          </a:xfrm>
          <a:prstGeom prst="rect">
            <a:avLst/>
          </a:prstGeom>
        </p:spPr>
        <p:txBody>
          <a:bodyPr lIns="0" tIns="0" rIns="0" bIns="0"/>
          <a:lstStyle>
            <a:lvl1pPr marL="0" indent="0" defTabSz="290988">
              <a:lnSpc>
                <a:spcPct val="100000"/>
              </a:lnSpc>
              <a:spcBef>
                <a:spcPts val="0"/>
              </a:spcBef>
              <a:buSzTx/>
              <a:buNone/>
              <a:defRPr sz="1763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EEB530-F476-B203-86BA-811E1A17921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4D652-7895-6EAA-49F3-7C088AF030A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76E523-DB87-3C2F-DBF6-0368128DA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8912"/>
            <a:ext cx="8229599" cy="52120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912948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960119"/>
            <a:ext cx="8229600" cy="393192"/>
          </a:xfrm>
          <a:prstGeom prst="rect">
            <a:avLst/>
          </a:prstGeom>
        </p:spPr>
        <p:txBody>
          <a:bodyPr lIns="0" tIns="0" rIns="0" bIns="0"/>
          <a:lstStyle>
            <a:lvl1pPr marL="0" indent="0" defTabSz="290988">
              <a:lnSpc>
                <a:spcPct val="100000"/>
              </a:lnSpc>
              <a:spcBef>
                <a:spcPts val="0"/>
              </a:spcBef>
              <a:buSzTx/>
              <a:buNone/>
              <a:defRPr sz="1763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EEB530-F476-B203-86BA-811E1A17921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4D652-7895-6EAA-49F3-7C088AF030A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76E523-DB87-3C2F-DBF6-0368128DA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8912"/>
            <a:ext cx="8229599" cy="52120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981E46-6335-C02A-13A6-11FD5F9D324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1581150"/>
            <a:ext cx="8229599" cy="28479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Agenda items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659237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0" y="960119"/>
            <a:ext cx="8229600" cy="393192"/>
          </a:xfrm>
          <a:prstGeom prst="rect">
            <a:avLst/>
          </a:prstGeom>
        </p:spPr>
        <p:txBody>
          <a:bodyPr lIns="0" tIns="0" rIns="0" bIns="0"/>
          <a:lstStyle>
            <a:lvl1pPr marL="0" indent="0" defTabSz="290988">
              <a:lnSpc>
                <a:spcPct val="100000"/>
              </a:lnSpc>
              <a:spcBef>
                <a:spcPts val="0"/>
              </a:spcBef>
              <a:buSzTx/>
              <a:buNone/>
              <a:defRPr sz="1763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EEB530-F476-B203-86BA-811E1A17921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4D652-7895-6EAA-49F3-7C088AF030A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76E523-DB87-3C2F-DBF6-0368128DA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8912"/>
            <a:ext cx="8229599" cy="521207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7" name="Agenda Item Goes Here">
            <a:extLst>
              <a:ext uri="{FF2B5EF4-FFF2-40B4-BE49-F238E27FC236}">
                <a16:creationId xmlns:a16="http://schemas.microsoft.com/office/drawing/2014/main" id="{B978051E-0ACC-CF78-5D85-B3E0439EF42F}"/>
              </a:ext>
            </a:extLst>
          </p:cNvPr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5210828" y="3737864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68" name="#">
            <a:extLst>
              <a:ext uri="{FF2B5EF4-FFF2-40B4-BE49-F238E27FC236}">
                <a16:creationId xmlns:a16="http://schemas.microsoft.com/office/drawing/2014/main" id="{8242EA51-EDDD-345E-92B9-4694E57F86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12053" y="3745008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69" name="Agenda Item Goes Here">
            <a:extLst>
              <a:ext uri="{FF2B5EF4-FFF2-40B4-BE49-F238E27FC236}">
                <a16:creationId xmlns:a16="http://schemas.microsoft.com/office/drawing/2014/main" id="{CF142CF7-1603-0247-7397-86DD3EFE74CC}"/>
              </a:ext>
            </a:extLst>
          </p:cNvPr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5210828" y="3200739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t>Agenda Item Goes Here</a:t>
            </a:r>
          </a:p>
        </p:txBody>
      </p:sp>
      <p:sp>
        <p:nvSpPr>
          <p:cNvPr id="70" name="#">
            <a:extLst>
              <a:ext uri="{FF2B5EF4-FFF2-40B4-BE49-F238E27FC236}">
                <a16:creationId xmlns:a16="http://schemas.microsoft.com/office/drawing/2014/main" id="{01948579-E95A-4A8C-8D8A-0606278318A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12053" y="3207883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71" name="Agenda Item Goes Here">
            <a:extLst>
              <a:ext uri="{FF2B5EF4-FFF2-40B4-BE49-F238E27FC236}">
                <a16:creationId xmlns:a16="http://schemas.microsoft.com/office/drawing/2014/main" id="{AA14672A-BEF7-E7C5-C02B-D433E56814C7}"/>
              </a:ext>
            </a:extLst>
          </p:cNvPr>
          <p:cNvSpPr txBox="1">
            <a:spLocks noGrp="1"/>
          </p:cNvSpPr>
          <p:nvPr>
            <p:ph type="body" sz="quarter" idx="28" hasCustomPrompt="1"/>
          </p:nvPr>
        </p:nvSpPr>
        <p:spPr>
          <a:xfrm>
            <a:off x="5210828" y="2663615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t>Agenda Item Goes Here</a:t>
            </a:r>
          </a:p>
        </p:txBody>
      </p:sp>
      <p:sp>
        <p:nvSpPr>
          <p:cNvPr id="72" name="#">
            <a:extLst>
              <a:ext uri="{FF2B5EF4-FFF2-40B4-BE49-F238E27FC236}">
                <a16:creationId xmlns:a16="http://schemas.microsoft.com/office/drawing/2014/main" id="{E2E4155F-55CE-001C-224E-8BE6675B6CB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12053" y="2670759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73" name="Agenda Item Goes Here">
            <a:extLst>
              <a:ext uri="{FF2B5EF4-FFF2-40B4-BE49-F238E27FC236}">
                <a16:creationId xmlns:a16="http://schemas.microsoft.com/office/drawing/2014/main" id="{7BF8E1B6-5714-99CC-FF63-AB6CAC34AA66}"/>
              </a:ext>
            </a:extLst>
          </p:cNvPr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5210828" y="2126490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t>Agenda Item Goes Here</a:t>
            </a:r>
          </a:p>
        </p:txBody>
      </p:sp>
      <p:sp>
        <p:nvSpPr>
          <p:cNvPr id="74" name="#">
            <a:extLst>
              <a:ext uri="{FF2B5EF4-FFF2-40B4-BE49-F238E27FC236}">
                <a16:creationId xmlns:a16="http://schemas.microsoft.com/office/drawing/2014/main" id="{2966A93B-BCA4-E101-661A-34003441B1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12053" y="2133634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75" name="Agenda Item Goes Here">
            <a:extLst>
              <a:ext uri="{FF2B5EF4-FFF2-40B4-BE49-F238E27FC236}">
                <a16:creationId xmlns:a16="http://schemas.microsoft.com/office/drawing/2014/main" id="{FD08DF01-2B39-4F3B-3A21-721E92B54169}"/>
              </a:ext>
            </a:extLst>
          </p:cNvPr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5210828" y="1589365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t>Agenda Item Goes Here</a:t>
            </a:r>
          </a:p>
        </p:txBody>
      </p:sp>
      <p:sp>
        <p:nvSpPr>
          <p:cNvPr id="76" name="#">
            <a:extLst>
              <a:ext uri="{FF2B5EF4-FFF2-40B4-BE49-F238E27FC236}">
                <a16:creationId xmlns:a16="http://schemas.microsoft.com/office/drawing/2014/main" id="{38E45996-4EA3-DA71-99DC-688A93CAE75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12053" y="1596509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77" name="Agenda Item Goes Here">
            <a:extLst>
              <a:ext uri="{FF2B5EF4-FFF2-40B4-BE49-F238E27FC236}">
                <a16:creationId xmlns:a16="http://schemas.microsoft.com/office/drawing/2014/main" id="{654FB170-1560-6700-EB50-5B566D284E80}"/>
              </a:ext>
            </a:extLst>
          </p:cNvPr>
          <p:cNvSpPr txBox="1">
            <a:spLocks noGrp="1"/>
          </p:cNvSpPr>
          <p:nvPr>
            <p:ph type="body" sz="quarter" idx="34" hasCustomPrompt="1"/>
          </p:nvPr>
        </p:nvSpPr>
        <p:spPr>
          <a:xfrm>
            <a:off x="944240" y="3737864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78" name="#">
            <a:extLst>
              <a:ext uri="{FF2B5EF4-FFF2-40B4-BE49-F238E27FC236}">
                <a16:creationId xmlns:a16="http://schemas.microsoft.com/office/drawing/2014/main" id="{DB039E8C-1E1B-020C-851E-24456C25BB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465" y="3745008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79" name="Agenda Item Goes Here">
            <a:extLst>
              <a:ext uri="{FF2B5EF4-FFF2-40B4-BE49-F238E27FC236}">
                <a16:creationId xmlns:a16="http://schemas.microsoft.com/office/drawing/2014/main" id="{D97CFACA-CC72-E656-4637-10D69243B281}"/>
              </a:ext>
            </a:extLst>
          </p:cNvPr>
          <p:cNvSpPr txBox="1">
            <a:spLocks noGrp="1"/>
          </p:cNvSpPr>
          <p:nvPr>
            <p:ph type="body" sz="quarter" idx="36" hasCustomPrompt="1"/>
          </p:nvPr>
        </p:nvSpPr>
        <p:spPr>
          <a:xfrm>
            <a:off x="944240" y="3200739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80" name="#">
            <a:extLst>
              <a:ext uri="{FF2B5EF4-FFF2-40B4-BE49-F238E27FC236}">
                <a16:creationId xmlns:a16="http://schemas.microsoft.com/office/drawing/2014/main" id="{6169DDAB-8713-08D1-D669-A0FE855CE76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5465" y="3207883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81" name="Agenda Item Goes Here">
            <a:extLst>
              <a:ext uri="{FF2B5EF4-FFF2-40B4-BE49-F238E27FC236}">
                <a16:creationId xmlns:a16="http://schemas.microsoft.com/office/drawing/2014/main" id="{BBB3B64E-AFC6-495C-1429-CAAE2A97B250}"/>
              </a:ext>
            </a:extLst>
          </p:cNvPr>
          <p:cNvSpPr txBox="1">
            <a:spLocks noGrp="1"/>
          </p:cNvSpPr>
          <p:nvPr>
            <p:ph type="body" sz="quarter" idx="38" hasCustomPrompt="1"/>
          </p:nvPr>
        </p:nvSpPr>
        <p:spPr>
          <a:xfrm>
            <a:off x="944240" y="2663615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t>Agenda Item Goes Here</a:t>
            </a:r>
          </a:p>
        </p:txBody>
      </p:sp>
      <p:sp>
        <p:nvSpPr>
          <p:cNvPr id="82" name="#">
            <a:extLst>
              <a:ext uri="{FF2B5EF4-FFF2-40B4-BE49-F238E27FC236}">
                <a16:creationId xmlns:a16="http://schemas.microsoft.com/office/drawing/2014/main" id="{888A569A-C00D-9017-B72C-5B34C44D71D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5465" y="2670759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83" name="Agenda Item Goes Here">
            <a:extLst>
              <a:ext uri="{FF2B5EF4-FFF2-40B4-BE49-F238E27FC236}">
                <a16:creationId xmlns:a16="http://schemas.microsoft.com/office/drawing/2014/main" id="{EBBC355A-113D-F340-A7F1-861F7000B87A}"/>
              </a:ext>
            </a:extLst>
          </p:cNvPr>
          <p:cNvSpPr txBox="1">
            <a:spLocks noGrp="1"/>
          </p:cNvSpPr>
          <p:nvPr>
            <p:ph type="body" sz="quarter" idx="40" hasCustomPrompt="1"/>
          </p:nvPr>
        </p:nvSpPr>
        <p:spPr>
          <a:xfrm>
            <a:off x="944240" y="2126490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t>Agenda Item Goes Here</a:t>
            </a:r>
          </a:p>
        </p:txBody>
      </p:sp>
      <p:sp>
        <p:nvSpPr>
          <p:cNvPr id="84" name="#">
            <a:extLst>
              <a:ext uri="{FF2B5EF4-FFF2-40B4-BE49-F238E27FC236}">
                <a16:creationId xmlns:a16="http://schemas.microsoft.com/office/drawing/2014/main" id="{1C53AA7C-7D33-8A19-B1BD-E596F45D3D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5465" y="2133634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85" name="Agenda Item Goes Here">
            <a:extLst>
              <a:ext uri="{FF2B5EF4-FFF2-40B4-BE49-F238E27FC236}">
                <a16:creationId xmlns:a16="http://schemas.microsoft.com/office/drawing/2014/main" id="{FC39699A-DE9D-2944-CA7E-686C5D9B2621}"/>
              </a:ext>
            </a:extLst>
          </p:cNvPr>
          <p:cNvSpPr txBox="1">
            <a:spLocks noGrp="1"/>
          </p:cNvSpPr>
          <p:nvPr>
            <p:ph type="body" sz="quarter" idx="42" hasCustomPrompt="1"/>
          </p:nvPr>
        </p:nvSpPr>
        <p:spPr>
          <a:xfrm>
            <a:off x="944240" y="1589365"/>
            <a:ext cx="3475971" cy="395288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SzTx/>
              <a:buNone/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86" name="#">
            <a:extLst>
              <a:ext uri="{FF2B5EF4-FFF2-40B4-BE49-F238E27FC236}">
                <a16:creationId xmlns:a16="http://schemas.microsoft.com/office/drawing/2014/main" id="{D102BF0A-1131-5D9D-9355-4358933A033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5465" y="1596509"/>
            <a:ext cx="381000" cy="381000"/>
          </a:xfrm>
          <a:prstGeom prst="ellipse">
            <a:avLst/>
          </a:prstGeom>
          <a:ln w="19050">
            <a:solidFill>
              <a:srgbClr val="C69214"/>
            </a:solidFill>
          </a:ln>
        </p:spPr>
        <p:txBody>
          <a:bodyPr tIns="18288" anchor="ctr">
            <a:noAutofit/>
          </a:bodyPr>
          <a:lstStyle>
            <a:lvl1pPr marL="0" indent="0" algn="ctr" defTabSz="309567">
              <a:lnSpc>
                <a:spcPct val="100000"/>
              </a:lnSpc>
              <a:spcBef>
                <a:spcPts val="0"/>
              </a:spcBef>
              <a:buSzTx/>
              <a:buNone/>
              <a:defRPr sz="1350" b="1" i="0">
                <a:solidFill>
                  <a:srgbClr val="C692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Bold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644301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438149"/>
            <a:ext cx="8229599" cy="398894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435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ExtraBold"/>
              </a:defRPr>
            </a:lvl1pPr>
            <a:lvl2pPr marL="0" indent="171450" algn="ctr">
              <a:lnSpc>
                <a:spcPct val="80000"/>
              </a:lnSpc>
              <a:spcBef>
                <a:spcPts val="0"/>
              </a:spcBef>
              <a:buSzTx/>
              <a:buNone/>
              <a:defRPr sz="4350">
                <a:latin typeface="Source Sans 3 ExtraBold"/>
                <a:ea typeface="Source Sans 3 ExtraBold"/>
                <a:cs typeface="Source Sans 3 ExtraBold"/>
                <a:sym typeface="Source Sans 3 ExtraBold"/>
              </a:defRPr>
            </a:lvl2pPr>
            <a:lvl3pPr marL="0" indent="342900" algn="ctr">
              <a:lnSpc>
                <a:spcPct val="80000"/>
              </a:lnSpc>
              <a:spcBef>
                <a:spcPts val="0"/>
              </a:spcBef>
              <a:buSzTx/>
              <a:buNone/>
              <a:defRPr sz="4350">
                <a:latin typeface="Source Sans 3 ExtraBold"/>
                <a:ea typeface="Source Sans 3 ExtraBold"/>
                <a:cs typeface="Source Sans 3 ExtraBold"/>
                <a:sym typeface="Source Sans 3 ExtraBold"/>
              </a:defRPr>
            </a:lvl3pPr>
            <a:lvl4pPr marL="0" indent="514350" algn="ctr">
              <a:lnSpc>
                <a:spcPct val="80000"/>
              </a:lnSpc>
              <a:spcBef>
                <a:spcPts val="0"/>
              </a:spcBef>
              <a:buSzTx/>
              <a:buNone/>
              <a:defRPr sz="4350">
                <a:latin typeface="Source Sans 3 ExtraBold"/>
                <a:ea typeface="Source Sans 3 ExtraBold"/>
                <a:cs typeface="Source Sans 3 ExtraBold"/>
                <a:sym typeface="Source Sans 3 ExtraBold"/>
              </a:defRPr>
            </a:lvl4pPr>
            <a:lvl5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4350">
                <a:latin typeface="Source Sans 3 ExtraBold"/>
                <a:ea typeface="Source Sans 3 ExtraBold"/>
                <a:cs typeface="Source Sans 3 ExtraBold"/>
                <a:sym typeface="Source Sans 3 ExtraBold"/>
              </a:defRPr>
            </a:lvl5pPr>
          </a:lstStyle>
          <a:p>
            <a:r>
              <a:rPr lang="en-US" dirty="0"/>
              <a:t>STATEMENT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9CF8C-9B05-1F95-C25A-5A00BD20D5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012CE-887A-F6E2-1DEF-72941D54AE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776A0CA-4055-B399-34AA-F4F2E2A40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35"/>
          <a:stretch/>
        </p:blipFill>
        <p:spPr>
          <a:xfrm>
            <a:off x="0" y="4334493"/>
            <a:ext cx="9148763" cy="811587"/>
          </a:xfrm>
          <a:prstGeom prst="rect">
            <a:avLst/>
          </a:prstGeom>
        </p:spPr>
      </p:pic>
      <p:pic>
        <p:nvPicPr>
          <p:cNvPr id="3" name="UCSanDiegoLogo-BlueGold.png" descr="UCSanDiegoLogo-BlueGo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5583" y="4654013"/>
            <a:ext cx="1380481" cy="262567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57200" y="4769256"/>
            <a:ext cx="331200" cy="37424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 anchorCtr="0">
            <a:noAutofit/>
          </a:bodyPr>
          <a:lstStyle>
            <a:lvl1pPr algn="l" defTabSz="219075">
              <a:defRPr sz="900" b="0" i="0">
                <a:solidFill>
                  <a:schemeClr val="tx1"/>
                </a:solidFill>
                <a:latin typeface="Calibri" panose="020F0502020204030204" pitchFamily="34" charset="0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7200" y="438912"/>
            <a:ext cx="8229599" cy="946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CE948-B83F-1509-7CB2-CE0BFB957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4774019"/>
            <a:ext cx="5200650" cy="36948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B6EE1F-25FF-AFA1-2E8F-D32CF918B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81150"/>
            <a:ext cx="8229598" cy="28479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60" r:id="rId8"/>
  </p:sldLayoutIdLst>
  <p:transition spd="med"/>
  <p:hf hdr="0" dt="0"/>
  <p:txStyles>
    <p:titleStyle>
      <a:lvl1pPr marL="0" marR="0" indent="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182B49"/>
          </a:solidFill>
          <a:uFillTx/>
          <a:latin typeface="Calibri Light" panose="020F0302020204030204" pitchFamily="34" charset="0"/>
          <a:ea typeface="+mn-ea"/>
          <a:cs typeface="Calibri Light" panose="020F0302020204030204" pitchFamily="34" charset="0"/>
          <a:sym typeface="Source Sans 3 Light"/>
        </a:defRPr>
      </a:lvl1pPr>
      <a:lvl2pPr marL="0" marR="0" indent="1714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Source Sans 3 Light"/>
        </a:defRPr>
      </a:lvl2pPr>
      <a:lvl3pPr marL="0" marR="0" indent="3429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Source Sans 3 Light"/>
        </a:defRPr>
      </a:lvl3pPr>
      <a:lvl4pPr marL="0" marR="0" indent="5143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Source Sans 3 Light"/>
        </a:defRPr>
      </a:lvl4pPr>
      <a:lvl5pPr marL="0" marR="0" indent="6858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Source Sans 3 Light"/>
        </a:defRPr>
      </a:lvl5pPr>
      <a:lvl6pPr marL="0" marR="0" indent="8572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Source Sans 3 Light"/>
        </a:defRPr>
      </a:lvl6pPr>
      <a:lvl7pPr marL="0" marR="0" indent="10287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Source Sans 3 Light"/>
        </a:defRPr>
      </a:lvl7pPr>
      <a:lvl8pPr marL="0" marR="0" indent="12001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Source Sans 3 Light"/>
        </a:defRPr>
      </a:lvl8pPr>
      <a:lvl9pPr marL="0" marR="0" indent="13716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Source Sans 3 Light"/>
        </a:defRPr>
      </a:lvl9pPr>
    </p:titleStyle>
    <p:bodyStyle>
      <a:lvl1pPr marL="182880" marR="0" indent="-182880" algn="l" defTabSz="914377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182B49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Source Sans 3 Regular"/>
        </a:defRPr>
      </a:lvl1pPr>
      <a:lvl2pPr marL="457200" marR="0" indent="-182880" algn="l" defTabSz="914377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23000"/>
        <a:buFontTx/>
        <a:buChar char="•"/>
        <a:tabLst/>
        <a:defRPr sz="1400" b="0" i="0" u="none" strike="noStrike" cap="none" spc="0" baseline="0">
          <a:solidFill>
            <a:srgbClr val="182B49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Source Sans 3 Regular"/>
        </a:defRPr>
      </a:lvl2pPr>
      <a:lvl3pPr marL="685800" marR="0" indent="-182880" algn="l" defTabSz="914377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23000"/>
        <a:buFontTx/>
        <a:buChar char="•"/>
        <a:tabLst/>
        <a:defRPr sz="1400" b="0" i="0" u="none" strike="noStrike" cap="none" spc="0" baseline="0">
          <a:solidFill>
            <a:srgbClr val="182B49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Source Sans 3 Regular"/>
        </a:defRPr>
      </a:lvl3pPr>
      <a:lvl4pPr marL="914400" marR="0" indent="-182880" algn="l" defTabSz="914377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23000"/>
        <a:buFontTx/>
        <a:buChar char="•"/>
        <a:tabLst/>
        <a:defRPr sz="1400" b="0" i="0" u="none" strike="noStrike" cap="none" spc="0" baseline="0">
          <a:solidFill>
            <a:srgbClr val="182B49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Source Sans 3 Regular"/>
        </a:defRPr>
      </a:lvl4pPr>
      <a:lvl5pPr marL="1143000" marR="0" indent="-182880" algn="l" defTabSz="914377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23000"/>
        <a:buFontTx/>
        <a:buChar char="•"/>
        <a:tabLst/>
        <a:defRPr sz="1400" b="0" i="0" u="none" strike="noStrike" cap="none" spc="0" baseline="0">
          <a:solidFill>
            <a:srgbClr val="182B49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Source Sans 3 Regular"/>
        </a:defRPr>
      </a:lvl5pPr>
      <a:lvl6pPr marL="13716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182B49"/>
          </a:solidFill>
          <a:uFillTx/>
          <a:latin typeface="Source Sans 3 Regular"/>
          <a:ea typeface="Source Sans 3 Regular"/>
          <a:cs typeface="Source Sans 3 Regular"/>
          <a:sym typeface="Source Sans 3 Regular"/>
        </a:defRPr>
      </a:lvl6pPr>
      <a:lvl7pPr marL="16002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182B49"/>
          </a:solidFill>
          <a:uFillTx/>
          <a:latin typeface="Source Sans 3 Regular"/>
          <a:ea typeface="Source Sans 3 Regular"/>
          <a:cs typeface="Source Sans 3 Regular"/>
          <a:sym typeface="Source Sans 3 Regular"/>
        </a:defRPr>
      </a:lvl7pPr>
      <a:lvl8pPr marL="18288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182B49"/>
          </a:solidFill>
          <a:uFillTx/>
          <a:latin typeface="Source Sans 3 Regular"/>
          <a:ea typeface="Source Sans 3 Regular"/>
          <a:cs typeface="Source Sans 3 Regular"/>
          <a:sym typeface="Source Sans 3 Regular"/>
        </a:defRPr>
      </a:lvl8pPr>
      <a:lvl9pPr marL="20574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182B49"/>
          </a:solidFill>
          <a:uFillTx/>
          <a:latin typeface="Source Sans 3 Regular"/>
          <a:ea typeface="Source Sans 3 Regular"/>
          <a:cs typeface="Source Sans 3 Regular"/>
          <a:sym typeface="Source Sans 3 Regular"/>
        </a:defRPr>
      </a:lvl9pPr>
    </p:bodyStyle>
    <p:otherStyle>
      <a:lvl1pPr marL="0" marR="0" indent="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714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429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143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6858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8572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287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001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3716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790" userDrawn="1">
          <p15:clr>
            <a:srgbClr val="F26B43"/>
          </p15:clr>
        </p15:guide>
        <p15:guide id="4" orient="horz" pos="276" userDrawn="1">
          <p15:clr>
            <a:srgbClr val="F26B43"/>
          </p15:clr>
        </p15:guide>
        <p15:guide id="6" orient="horz" pos="996" userDrawn="1">
          <p15:clr>
            <a:srgbClr val="F26B43"/>
          </p15:clr>
        </p15:guide>
        <p15:guide id="7" pos="5472" userDrawn="1">
          <p15:clr>
            <a:srgbClr val="F26B43"/>
          </p15:clr>
        </p15:guide>
        <p15:guide id="10" pos="2880" userDrawn="1">
          <p15:clr>
            <a:srgbClr val="F26B43"/>
          </p15:clr>
        </p15:guide>
        <p15:guide id="11" orient="horz" pos="1620" userDrawn="1">
          <p15:clr>
            <a:srgbClr val="F26B43"/>
          </p15:clr>
        </p15:guide>
        <p15:guide id="13" pos="576" userDrawn="1">
          <p15:clr>
            <a:srgbClr val="F26B43"/>
          </p15:clr>
        </p15:guide>
        <p15:guide id="14" pos="288" userDrawn="1">
          <p15:clr>
            <a:srgbClr val="F26B43"/>
          </p15:clr>
        </p15:guide>
        <p15:guide id="15" pos="5616" userDrawn="1">
          <p15:clr>
            <a:srgbClr val="F26B43"/>
          </p15:clr>
        </p15:guide>
        <p15:guide id="16" orient="horz" pos="876" userDrawn="1">
          <p15:clr>
            <a:srgbClr val="F26B43"/>
          </p15:clr>
        </p15:guide>
        <p15:guide id="17" orient="horz" pos="7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D9BAA9-2F70-3378-ECCC-837D69DF19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Matthew Jacobsen |  March 06, 2025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BAE4F7-625D-9F2C-E92A-857C45B4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665949"/>
            <a:ext cx="8239127" cy="1642254"/>
          </a:xfrm>
        </p:spPr>
        <p:txBody>
          <a:bodyPr>
            <a:normAutofit fontScale="90000"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Place Solution </a:t>
            </a:r>
            <a:br>
              <a:rPr lang="en-US" dirty="0"/>
            </a:br>
            <a:r>
              <a:rPr lang="en-US" dirty="0"/>
              <a:t>UCSD-Winter-2025-DSC148 Competition</a:t>
            </a:r>
            <a:br>
              <a:rPr lang="en-US" b="1" i="0" u="none" strike="noStrike" dirty="0">
                <a:solidFill>
                  <a:srgbClr val="202124"/>
                </a:solidFill>
                <a:effectLst/>
                <a:latin typeface="Inter"/>
              </a:rPr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20B25-41D7-E970-FAC4-D10A63EB7B1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57202" y="3115159"/>
            <a:ext cx="8239125" cy="714375"/>
          </a:xfrm>
        </p:spPr>
        <p:txBody>
          <a:bodyPr/>
          <a:lstStyle/>
          <a:p>
            <a:r>
              <a:rPr lang="en-US" b="0" dirty="0"/>
              <a:t>Airbnb Price Prediction Model</a:t>
            </a:r>
          </a:p>
        </p:txBody>
      </p:sp>
      <p:pic>
        <p:nvPicPr>
          <p:cNvPr id="7" name="Picture Placeholder 6" descr="A blue and yellow letter on a black background&#10;&#10;Description automatically generated">
            <a:extLst>
              <a:ext uri="{FF2B5EF4-FFF2-40B4-BE49-F238E27FC236}">
                <a16:creationId xmlns:a16="http://schemas.microsoft.com/office/drawing/2014/main" id="{23850418-1ED8-CEB0-C418-7EA5AAB1253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" b="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626224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14D3B-6DF1-8735-CC47-257E0F8B03D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64946-FC5E-1C8B-C705-45E5226B9CD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161842-5F85-38A4-B8BD-F2C5255A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3FA5199-CF29-EBB6-D531-545016DBF5F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2FD5414-25E8-6756-1B0B-8978F6BEAD9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4CEF66B-44D3-8F2A-8142-4D5D64CEB5E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4240" y="3200739"/>
            <a:ext cx="4644636" cy="395288"/>
          </a:xfrm>
        </p:spPr>
        <p:txBody>
          <a:bodyPr>
            <a:normAutofit/>
          </a:bodyPr>
          <a:lstStyle/>
          <a:p>
            <a:r>
              <a:rPr lang="en-US" dirty="0"/>
              <a:t>Latent Dirichlet Allocation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78EA049-39EB-76C3-F993-75129FEBC25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64E2A69-7430-CE49-E6E1-347B1901660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44240" y="2663615"/>
            <a:ext cx="3556198" cy="395288"/>
          </a:xfrm>
        </p:spPr>
        <p:txBody>
          <a:bodyPr>
            <a:normAutofit/>
          </a:bodyPr>
          <a:lstStyle/>
          <a:p>
            <a:r>
              <a:rPr lang="en-US" dirty="0"/>
              <a:t>Feature Engineering and Selection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D9F17B7-1888-6245-B781-C433E1FA18F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46C37C1-B357-F2C6-EFB1-F5BAD9D04B9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Approach and Model Evaluation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C2AA750-8511-C9CD-7FE0-45DC70964E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05D3EB3-6F63-024E-DB48-C220B3011F8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8629DBD-D326-D449-867C-2C8629095A4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7828529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F41890-B5B5-0054-9368-1F9EE71A023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Extreme Gradient Boosting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850CF-D251-E8DF-40EC-A24E9B61A6B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0CE80-DA41-1C96-323B-448864FFD5A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AFDD37-611C-32F9-60C9-E6F0B34FF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18A6F8-97A6-478E-B179-04BEFBD543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Sequential tree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tree is trained to minimize the errors of previous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missing values internally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Incorporates L1 and L2 regularization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3945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54E93-7BDC-36B6-D75A-7126EE54757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DD6B3-45CD-E00F-977E-7AAA6F5F1CB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77B107-2D4C-00B4-326E-57B886B0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Process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F48500-5FEE-205E-58EF-EB4B5AE7DE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1256306"/>
            <a:ext cx="8229599" cy="31728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lot of features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638 features after encoding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Hyperparameter tuning to avoid overfitting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Evaluation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10-fold cross validation on the </a:t>
            </a:r>
            <a:r>
              <a:rPr lang="en-US" i="1" dirty="0"/>
              <a:t>ENTIRE </a:t>
            </a:r>
            <a:r>
              <a:rPr lang="en-US" dirty="0"/>
              <a:t>training set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Train model on </a:t>
            </a:r>
            <a:r>
              <a:rPr lang="en-US" i="1" dirty="0"/>
              <a:t>ENTIRE</a:t>
            </a:r>
            <a:r>
              <a:rPr lang="en-US" dirty="0"/>
              <a:t> training set before predicting test set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7705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5C7CA8-94F1-EAA8-E10E-AB158871BF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One Hot Encoding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179E3-381E-38B9-1DAB-8A2DCAAFBC4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65395-7785-E5B0-066B-944656DD8E2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7572A3-8904-09F6-EA57-F2D7B1C7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Features Used: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6A2540-71BE-3EEE-8700-7F036A4B85E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numCol="2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Property Location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Neighborhood group cleansed – 5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Neighborhood cleansed – 220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Zip code – 190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Property Info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Property type – 29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Room type – 3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Bed type – 5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Amenities – 123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Booking Info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Cancellation policy – 7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Host response time – 4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Host is super host – 2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Host identity verified – 2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Instant bookable – 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20894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C33F4-A68B-54F9-7C6F-4E15AF054DE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68428-189E-AC9D-5D93-E430A67340B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958630-47DB-BAEA-A149-FFA07C8D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Features Used: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FF69DB-044E-CED5-E031-81EC0448CA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199" y="1467642"/>
            <a:ext cx="8229599" cy="3119518"/>
          </a:xfrm>
        </p:spPr>
        <p:txBody>
          <a:bodyPr numCol="3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Property Info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Accommodates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Bathrooms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Bedrooms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Beds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Square feet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 Info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Response rate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Listings Count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Host since -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Booking Info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Guests included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Extra people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Minimum nights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Maximum nights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Reviews per month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Number of reviews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Scores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Rating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Accuracy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Cleanliness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Check-in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Communication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Location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Value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7A4A48B-5AF3-B3A3-30DF-E5F9C9AC7B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198" y="960119"/>
            <a:ext cx="8229600" cy="393192"/>
          </a:xfrm>
        </p:spPr>
        <p:txBody>
          <a:bodyPr/>
          <a:lstStyle/>
          <a:p>
            <a:r>
              <a:rPr lang="en-US" dirty="0"/>
              <a:t>Robust Scaler</a:t>
            </a:r>
          </a:p>
        </p:txBody>
      </p:sp>
    </p:spTree>
    <p:extLst>
      <p:ext uri="{BB962C8B-B14F-4D97-AF65-F5344CB8AC3E}">
        <p14:creationId xmlns:p14="http://schemas.microsoft.com/office/powerpoint/2010/main" val="55028678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89775B-8009-566B-1566-C7E27AD6B5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Using only Categorical and Numerical Features: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7ECE3-055A-559E-7A04-616C9890D28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30367-0017-E24C-6945-DBB7C267598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314FFD-94B9-340A-8429-7B5F1362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8457E9-4B83-AF78-C080-F7FB5069403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1581150"/>
            <a:ext cx="7501179" cy="28479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Public Leaderboard Score – 80.162 – 5</a:t>
            </a:r>
            <a:r>
              <a:rPr lang="en-US" baseline="30000" dirty="0"/>
              <a:t>th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Private Leaderboard Score – 83.879 – 3</a:t>
            </a:r>
            <a:r>
              <a:rPr lang="en-US" baseline="30000" dirty="0"/>
              <a:t>rd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is extremely powerful with very little effort!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04997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39B36-5117-4B60-96EA-C02A94FA59A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Airbnb Price Prediction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2663A-8237-F72A-B321-9A9AC3D5216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BFC3D6-98BE-DF62-F0F7-092D8FE2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Dirichlet Allocation</a:t>
            </a:r>
          </a:p>
        </p:txBody>
      </p:sp>
      <p:pic>
        <p:nvPicPr>
          <p:cNvPr id="1026" name="Picture 2" descr="figure-name">
            <a:extLst>
              <a:ext uri="{FF2B5EF4-FFF2-40B4-BE49-F238E27FC236}">
                <a16:creationId xmlns:a16="http://schemas.microsoft.com/office/drawing/2014/main" id="{1A87CBA8-41FB-E448-E95F-0F25A6F18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89278"/>
            <a:ext cx="8029178" cy="241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3CB3278-2A06-5A7D-B981-5D3D4EFC4C79}"/>
              </a:ext>
            </a:extLst>
          </p:cNvPr>
          <p:cNvSpPr txBox="1">
            <a:spLocks/>
          </p:cNvSpPr>
          <p:nvPr/>
        </p:nvSpPr>
        <p:spPr>
          <a:xfrm>
            <a:off x="457200" y="1022887"/>
            <a:ext cx="7501179" cy="8567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marR="0" indent="0" algn="l" defTabSz="914377" rtl="0" latinLnBrk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1800" b="0" i="0" u="none" strike="noStrike" cap="none" spc="0" baseline="0">
                <a:solidFill>
                  <a:srgbClr val="182B49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  <a:lvl2pPr marL="274320" marR="0" indent="0" algn="l" defTabSz="914377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1400" b="0" i="0" u="none" strike="noStrike" cap="none" spc="0" baseline="0">
                <a:solidFill>
                  <a:srgbClr val="182B49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2pPr>
            <a:lvl3pPr marL="502920" marR="0" indent="0" algn="l" defTabSz="914377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1400" b="0" i="0" u="none" strike="noStrike" cap="none" spc="0" baseline="0">
                <a:solidFill>
                  <a:srgbClr val="182B49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3pPr>
            <a:lvl4pPr marL="731520" marR="0" indent="0" algn="l" defTabSz="914377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1400" b="0" i="0" u="none" strike="noStrike" cap="none" spc="0" baseline="0">
                <a:solidFill>
                  <a:srgbClr val="182B49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4pPr>
            <a:lvl5pPr marL="960120" marR="0" indent="0" algn="l" defTabSz="914377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1400" b="0" i="0" u="none" strike="noStrike" cap="none" spc="0" baseline="0">
                <a:solidFill>
                  <a:srgbClr val="182B49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5pPr>
            <a:lvl6pPr marL="13716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800" b="0" i="0" u="none" strike="noStrike" cap="none" spc="0" baseline="0">
                <a:solidFill>
                  <a:srgbClr val="182B49"/>
                </a:solidFill>
                <a:uFillTx/>
                <a:latin typeface="Source Sans 3 Regular"/>
                <a:ea typeface="Source Sans 3 Regular"/>
                <a:cs typeface="Source Sans 3 Regular"/>
                <a:sym typeface="Source Sans 3 Regular"/>
              </a:defRPr>
            </a:lvl6pPr>
            <a:lvl7pPr marL="16002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800" b="0" i="0" u="none" strike="noStrike" cap="none" spc="0" baseline="0">
                <a:solidFill>
                  <a:srgbClr val="182B49"/>
                </a:solidFill>
                <a:uFillTx/>
                <a:latin typeface="Source Sans 3 Regular"/>
                <a:ea typeface="Source Sans 3 Regular"/>
                <a:cs typeface="Source Sans 3 Regular"/>
                <a:sym typeface="Source Sans 3 Regular"/>
              </a:defRPr>
            </a:lvl7pPr>
            <a:lvl8pPr marL="18288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800" b="0" i="0" u="none" strike="noStrike" cap="none" spc="0" baseline="0">
                <a:solidFill>
                  <a:srgbClr val="182B49"/>
                </a:solidFill>
                <a:uFillTx/>
                <a:latin typeface="Source Sans 3 Regular"/>
                <a:ea typeface="Source Sans 3 Regular"/>
                <a:cs typeface="Source Sans 3 Regular"/>
                <a:sym typeface="Source Sans 3 Regular"/>
              </a:defRPr>
            </a:lvl8pPr>
            <a:lvl9pPr marL="2057400" marR="0" indent="-228600" algn="l" defTabSz="914377" rtl="0" latinLnBrk="0">
              <a:lnSpc>
                <a:spcPct val="90000"/>
              </a:lnSpc>
              <a:spcBef>
                <a:spcPts val="131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800" b="0" i="0" u="none" strike="noStrike" cap="none" spc="0" baseline="0">
                <a:solidFill>
                  <a:srgbClr val="182B49"/>
                </a:solidFill>
                <a:uFillTx/>
                <a:latin typeface="Source Sans 3 Regular"/>
                <a:ea typeface="Source Sans 3 Regular"/>
                <a:cs typeface="Source Sans 3 Regular"/>
                <a:sym typeface="Source Sans 3 Regular"/>
              </a:defRPr>
            </a:lvl9pPr>
          </a:lstStyle>
          <a:p>
            <a:pPr marL="285750" indent="-285750" hangingPunct="1">
              <a:buFont typeface="Arial" panose="020B0604020202020204" pitchFamily="34" charset="0"/>
              <a:buChar char="•"/>
            </a:pPr>
            <a:r>
              <a:rPr lang="en-US" dirty="0"/>
              <a:t>Identifies the topics that best define the corpus and assigns a stochastic weight of each topic to each document</a:t>
            </a:r>
          </a:p>
          <a:p>
            <a:pPr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9444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019B1-F2E9-8068-4AB4-FDC22365B63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Airbnb Price Prediction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98813-1F65-289A-BE1A-2F9F7E754DC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97229D-E6CC-78B8-6CE6-90D1CA8BD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LDA on Text Features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97B44B-2E0B-D2F4-4DB7-EBF97F6554E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1176794"/>
            <a:ext cx="8229599" cy="325233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Concatenate all text features into a single feature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name, summary, space, description, neighborhood, notes, transit, access, interaction, house rules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LDA to extract 20 topics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Topic 0: tv, bed, kitchen, apartment, coffee, …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Topic 5: private, floor, garden, outdoor, deck, …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document (combination of all text features) are topics in various proportions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Listing 1: </a:t>
            </a:r>
            <a:r>
              <a:rPr lang="en-US" b="1" dirty="0"/>
              <a:t>70% </a:t>
            </a:r>
            <a:r>
              <a:rPr lang="en-US" dirty="0"/>
              <a:t>topic 1, </a:t>
            </a:r>
            <a:r>
              <a:rPr lang="en-US" b="1" dirty="0"/>
              <a:t>20% </a:t>
            </a:r>
            <a:r>
              <a:rPr lang="en-US" dirty="0"/>
              <a:t>topic 17, </a:t>
            </a:r>
            <a:r>
              <a:rPr lang="en-US" b="1" dirty="0"/>
              <a:t>10% </a:t>
            </a:r>
            <a:r>
              <a:rPr lang="en-US" dirty="0"/>
              <a:t>topic 19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Listing 2: </a:t>
            </a:r>
            <a:r>
              <a:rPr lang="en-US" b="1" dirty="0"/>
              <a:t>50% </a:t>
            </a:r>
            <a:r>
              <a:rPr lang="en-US" dirty="0"/>
              <a:t>topic 1, </a:t>
            </a:r>
            <a:r>
              <a:rPr lang="en-US" b="1" dirty="0"/>
              <a:t>30% </a:t>
            </a:r>
            <a:r>
              <a:rPr lang="en-US" dirty="0"/>
              <a:t>topic 10, </a:t>
            </a:r>
            <a:r>
              <a:rPr lang="en-US" b="1" dirty="0"/>
              <a:t>20% </a:t>
            </a:r>
            <a:r>
              <a:rPr lang="en-US" dirty="0"/>
              <a:t>topic 15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25563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F45DF-B44E-D1B1-D181-14F12C51E9C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7A814-CEAC-B264-4C2E-74A0083E342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F431C2-FE33-6BF4-03D9-7B55B03A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864ECE5-1E3F-9A9B-6ECB-108D5D77F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677941"/>
              </p:ext>
            </p:extLst>
          </p:nvPr>
        </p:nvGraphicFramePr>
        <p:xfrm>
          <a:off x="457198" y="960118"/>
          <a:ext cx="8229600" cy="3193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441190309"/>
                    </a:ext>
                  </a:extLst>
                </a:gridCol>
                <a:gridCol w="1263504">
                  <a:extLst>
                    <a:ext uri="{9D8B030D-6E8A-4147-A177-3AD203B41FA5}">
                      <a16:colId xmlns:a16="http://schemas.microsoft.com/office/drawing/2014/main" val="1380096703"/>
                    </a:ext>
                  </a:extLst>
                </a:gridCol>
                <a:gridCol w="1403498">
                  <a:extLst>
                    <a:ext uri="{9D8B030D-6E8A-4147-A177-3AD203B41FA5}">
                      <a16:colId xmlns:a16="http://schemas.microsoft.com/office/drawing/2014/main" val="2138122652"/>
                    </a:ext>
                  </a:extLst>
                </a:gridCol>
                <a:gridCol w="3505198">
                  <a:extLst>
                    <a:ext uri="{9D8B030D-6E8A-4147-A177-3AD203B41FA5}">
                      <a16:colId xmlns:a16="http://schemas.microsoft.com/office/drawing/2014/main" val="3010855616"/>
                    </a:ext>
                  </a:extLst>
                </a:gridCol>
              </a:tblGrid>
              <a:tr h="319367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413612"/>
                  </a:ext>
                </a:extLst>
              </a:tr>
              <a:tr h="319367">
                <a:tc>
                  <a:txBody>
                    <a:bodyPr/>
                    <a:lstStyle/>
                    <a:p>
                      <a:r>
                        <a:rPr lang="en-US" sz="1200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0.025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Very slow learning rate balanced by large number of trees.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326591"/>
                  </a:ext>
                </a:extLst>
              </a:tr>
              <a:tr h="319367">
                <a:tc>
                  <a:txBody>
                    <a:bodyPr/>
                    <a:lstStyle/>
                    <a:p>
                      <a:r>
                        <a:rPr lang="en-US" sz="1200" dirty="0"/>
                        <a:t>Number of Estimators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1100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461844"/>
                  </a:ext>
                </a:extLst>
              </a:tr>
              <a:tr h="319367">
                <a:tc>
                  <a:txBody>
                    <a:bodyPr/>
                    <a:lstStyle/>
                    <a:p>
                      <a:r>
                        <a:rPr lang="en-US" sz="1200" dirty="0"/>
                        <a:t>Max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Allow the tree to grow deep but requires a large reduction in loss to split a node.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249737"/>
                  </a:ext>
                </a:extLst>
              </a:tr>
              <a:tr h="319367">
                <a:tc>
                  <a:txBody>
                    <a:bodyPr/>
                    <a:lstStyle/>
                    <a:p>
                      <a:r>
                        <a:rPr lang="en-US" sz="1200" dirty="0"/>
                        <a:t>Minimum Split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6.5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769016"/>
                  </a:ext>
                </a:extLst>
              </a:tr>
              <a:tr h="319367">
                <a:tc>
                  <a:txBody>
                    <a:bodyPr/>
                    <a:lstStyle/>
                    <a:p>
                      <a:r>
                        <a:rPr lang="en-US" sz="1200" dirty="0"/>
                        <a:t>L1 Regularization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High L2 regularization of leaf weights, prevents single leaves from having outsize impact on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637772"/>
                  </a:ext>
                </a:extLst>
              </a:tr>
              <a:tr h="319367">
                <a:tc>
                  <a:txBody>
                    <a:bodyPr/>
                    <a:lstStyle/>
                    <a:p>
                      <a:r>
                        <a:rPr lang="en-US" sz="1200" dirty="0"/>
                        <a:t>L2 Regularization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932126"/>
                  </a:ext>
                </a:extLst>
              </a:tr>
              <a:tr h="319367">
                <a:tc>
                  <a:txBody>
                    <a:bodyPr/>
                    <a:lstStyle/>
                    <a:p>
                      <a:r>
                        <a:rPr lang="en-US" sz="1200" dirty="0"/>
                        <a:t>Subsample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Use 50% of the data in each tree but use all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75997"/>
                  </a:ext>
                </a:extLst>
              </a:tr>
              <a:tr h="319367">
                <a:tc>
                  <a:txBody>
                    <a:bodyPr/>
                    <a:lstStyle/>
                    <a:p>
                      <a:pPr marL="0" marR="0" lvl="0" indent="0" algn="ctr" defTabSz="2190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Col Subsample by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085986"/>
                  </a:ext>
                </a:extLst>
              </a:tr>
              <a:tr h="319367">
                <a:tc>
                  <a:txBody>
                    <a:bodyPr/>
                    <a:lstStyle/>
                    <a:p>
                      <a:r>
                        <a:rPr lang="en-US" sz="1200" dirty="0"/>
                        <a:t>Tree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 histogram for evaluation, exact for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47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46622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C3E52D-C3B3-561D-B15B-CB418432F63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9A895-8B4E-7FDB-81B5-F868126BC28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F56568-7450-A237-1EF0-78BEA6E2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Adjustments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2F9AC8-F5CE-5BC1-3DB6-19614881A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1155"/>
            <a:ext cx="4909930" cy="3273286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4773BA2-6187-54E8-DB18-663BC4C1781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6256" y="1579525"/>
            <a:ext cx="2997641" cy="25750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72% of all prices in the training set are divisible by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Round model predictions to the nearest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31252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FFC42C-BADE-6933-1330-B67104026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C45EF-C743-1E3E-B583-053317B648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Airbnb Price Prediction 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9AC14-C282-E008-CDE0-CE4053B56D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0290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imple Gold Line Theme">
  <a:themeElements>
    <a:clrScheme name="Custom 4">
      <a:dk1>
        <a:srgbClr val="182B48"/>
      </a:dk1>
      <a:lt1>
        <a:srgbClr val="F5F0E5"/>
      </a:lt1>
      <a:dk2>
        <a:srgbClr val="182B48"/>
      </a:dk2>
      <a:lt2>
        <a:srgbClr val="F5F0E5"/>
      </a:lt2>
      <a:accent1>
        <a:srgbClr val="C59114"/>
      </a:accent1>
      <a:accent2>
        <a:srgbClr val="00629B"/>
      </a:accent2>
      <a:accent3>
        <a:srgbClr val="182B48"/>
      </a:accent3>
      <a:accent4>
        <a:srgbClr val="C59114"/>
      </a:accent4>
      <a:accent5>
        <a:srgbClr val="00629B"/>
      </a:accent5>
      <a:accent6>
        <a:srgbClr val="182B48"/>
      </a:accent6>
      <a:hlink>
        <a:srgbClr val="00629B"/>
      </a:hlink>
      <a:folHlink>
        <a:srgbClr val="747578"/>
      </a:folHlink>
    </a:clrScheme>
    <a:fontScheme name="21_BasicWhite">
      <a:majorFont>
        <a:latin typeface="Source Sans 3 Light"/>
        <a:ea typeface="Source Sans 3 Light"/>
        <a:cs typeface="Source Sans 3 Light"/>
      </a:majorFont>
      <a:minorFont>
        <a:latin typeface="Source Sans 3 Light"/>
        <a:ea typeface="Source Sans 3 Light"/>
        <a:cs typeface="Source Sans 3 Light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Source Sans 3 Regular"/>
            <a:ea typeface="Source Sans 3 Regular"/>
            <a:cs typeface="Source Sans 3 Regular"/>
            <a:sym typeface="Source Sans 3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Source Sans 3 Light"/>
        <a:ea typeface="Source Sans 3 Light"/>
        <a:cs typeface="Source Sans 3 Light"/>
      </a:majorFont>
      <a:minorFont>
        <a:latin typeface="Source Sans 3 Light"/>
        <a:ea typeface="Source Sans 3 Light"/>
        <a:cs typeface="Source Sans 3 Light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Source Sans 3 Regular"/>
            <a:ea typeface="Source Sans 3 Regular"/>
            <a:cs typeface="Source Sans 3 Regular"/>
            <a:sym typeface="Source Sans 3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5493</TotalTime>
  <Words>674</Words>
  <Application>Microsoft Macintosh PowerPoint</Application>
  <PresentationFormat>On-screen Show (16:9)</PresentationFormat>
  <Paragraphs>177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Inter</vt:lpstr>
      <vt:lpstr>Source Sans 3 Bold</vt:lpstr>
      <vt:lpstr>Source Sans 3 ExtraBold</vt:lpstr>
      <vt:lpstr>Source Sans 3 Regular</vt:lpstr>
      <vt:lpstr>Simple Gold Line Theme</vt:lpstr>
      <vt:lpstr>2nd Place Solution  UCSD-Winter-2025-DSC148 Competition </vt:lpstr>
      <vt:lpstr>CONTENTS</vt:lpstr>
      <vt:lpstr>XGBoost</vt:lpstr>
      <vt:lpstr>Design Process</vt:lpstr>
      <vt:lpstr>Categorical Features Used:</vt:lpstr>
      <vt:lpstr>Numerical Features Used:</vt:lpstr>
      <vt:lpstr>Results</vt:lpstr>
      <vt:lpstr>Latent Dirichlet Allocation</vt:lpstr>
      <vt:lpstr>LDA on Text Features</vt:lpstr>
      <vt:lpstr>Hyperparameter Tuning</vt:lpstr>
      <vt:lpstr>Final Adjustments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cp:lastModifiedBy>Matthew Jacobsen</cp:lastModifiedBy>
  <cp:revision>51</cp:revision>
  <dcterms:modified xsi:type="dcterms:W3CDTF">2025-03-08T01:11:54Z</dcterms:modified>
</cp:coreProperties>
</file>